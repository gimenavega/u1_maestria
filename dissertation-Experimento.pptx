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59" r:id="rId5"/>
    <p:sldId id="267" r:id="rId6"/>
    <p:sldId id="268" r:id="rId7"/>
    <p:sldId id="261" r:id="rId8"/>
    <p:sldId id="262" r:id="rId9"/>
    <p:sldId id="263" r:id="rId10"/>
    <p:sldId id="264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51" autoAdjust="0"/>
    <p:restoredTop sz="94660"/>
  </p:normalViewPr>
  <p:slideViewPr>
    <p:cSldViewPr>
      <p:cViewPr varScale="1">
        <p:scale>
          <a:sx n="41" d="100"/>
          <a:sy n="41" d="100"/>
        </p:scale>
        <p:origin x="54" y="5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26151"/>
            <a:ext cx="12191999" cy="4313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7114"/>
            <a:ext cx="1054014" cy="3093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02348" y="1185748"/>
            <a:ext cx="5213984" cy="3605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7952" y="2787395"/>
            <a:ext cx="3860292" cy="17023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426151"/>
            <a:ext cx="12191999" cy="4313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6129" y="-26415"/>
            <a:ext cx="5860415" cy="88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6693" y="1581128"/>
            <a:ext cx="10097770" cy="309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210934" y="6437453"/>
            <a:ext cx="216535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spr.2023.10221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55/2023/1753029" TargetMode="External"/><Relationship Id="rId5" Type="http://schemas.openxmlformats.org/officeDocument/2006/relationships/hyperlink" Target="https://doi.org/10.1016/j.foodchem.2017.07.084" TargetMode="External"/><Relationship Id="rId4" Type="http://schemas.openxmlformats.org/officeDocument/2006/relationships/hyperlink" Target="https://doi.org/10.1016/S0733-5210(86)80020-0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81327"/>
            <a:ext cx="12191999" cy="293687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75952" y="2091183"/>
            <a:ext cx="10886498" cy="155234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PE" sz="3200" dirty="0">
                <a:solidFill>
                  <a:schemeClr val="bg1"/>
                </a:solidFill>
              </a:rPr>
              <a:t>Efecto de la variedad y el tipo de empaque sobre la acidez titulable de la harina integral de tres variedades de kiwicha (</a:t>
            </a:r>
            <a:r>
              <a:rPr lang="es-PE" sz="3200" i="1" dirty="0" err="1">
                <a:solidFill>
                  <a:schemeClr val="bg1"/>
                </a:solidFill>
              </a:rPr>
              <a:t>Amaranthus</a:t>
            </a:r>
            <a:r>
              <a:rPr lang="es-PE" sz="3200" i="1" dirty="0">
                <a:solidFill>
                  <a:schemeClr val="bg1"/>
                </a:solidFill>
              </a:rPr>
              <a:t> </a:t>
            </a:r>
            <a:r>
              <a:rPr lang="es-PE" sz="3200" i="1" dirty="0" err="1">
                <a:solidFill>
                  <a:schemeClr val="bg1"/>
                </a:solidFill>
              </a:rPr>
              <a:t>caudatus</a:t>
            </a:r>
            <a:r>
              <a:rPr lang="es-PE" sz="3200" dirty="0">
                <a:solidFill>
                  <a:schemeClr val="bg1"/>
                </a:solidFill>
              </a:rPr>
              <a:t>) durante un almacenamiento acelerado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936" y="4882576"/>
            <a:ext cx="43002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 err="1">
                <a:latin typeface="Times New Roman"/>
                <a:cs typeface="Times New Roman"/>
              </a:rPr>
              <a:t>Alumn</a:t>
            </a:r>
            <a:r>
              <a:rPr lang="es-MX" sz="2000" b="1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lang="es-MX" sz="2000" spc="-60" dirty="0">
                <a:latin typeface="Times New Roman"/>
                <a:cs typeface="Times New Roman"/>
              </a:rPr>
              <a:t>Gimena Vega Chavez 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659" y="5442203"/>
            <a:ext cx="35382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Docente: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Flavio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Lozano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Isla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6971" y="97815"/>
            <a:ext cx="3657600" cy="106464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4E901BEE-C802-CAEC-69FF-E01C88B1746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45394" y="5087261"/>
            <a:ext cx="2234947" cy="578824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C948E4C-0297-A3EA-B815-C9DAC4FD2072}"/>
              </a:ext>
            </a:extLst>
          </p:cNvPr>
          <p:cNvSpPr/>
          <p:nvPr/>
        </p:nvSpPr>
        <p:spPr>
          <a:xfrm>
            <a:off x="2459391" y="4157393"/>
            <a:ext cx="7097726" cy="43828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latin typeface="Times New Roman"/>
                <a:cs typeface="Times New Roman"/>
              </a:rPr>
              <a:t>Maestría en Sanidad Vegetal</a:t>
            </a:r>
            <a:endParaRPr lang="es-PE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088E1F-CA22-3003-E24E-01FF8BE1CC44}"/>
              </a:ext>
            </a:extLst>
          </p:cNvPr>
          <p:cNvSpPr txBox="1"/>
          <p:nvPr/>
        </p:nvSpPr>
        <p:spPr>
          <a:xfrm>
            <a:off x="6008254" y="6206620"/>
            <a:ext cx="838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2026</a:t>
            </a:r>
            <a:endParaRPr lang="es-PE" sz="3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99316" y="304800"/>
            <a:ext cx="3023235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2400" spc="-10" dirty="0"/>
              <a:t>I. Introducción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487114"/>
            <a:ext cx="1054014" cy="30938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A17C580-1F4C-5438-5771-290EFD69BB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143000"/>
            <a:ext cx="3126241" cy="4168774"/>
          </a:xfrm>
          <a:prstGeom prst="rect">
            <a:avLst/>
          </a:prstGeom>
          <a:noFill/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749124F-3F81-7C5C-E77B-C70FC2325E91}"/>
              </a:ext>
            </a:extLst>
          </p:cNvPr>
          <p:cNvSpPr txBox="1"/>
          <p:nvPr/>
        </p:nvSpPr>
        <p:spPr>
          <a:xfrm>
            <a:off x="471137" y="990600"/>
            <a:ext cx="4656405" cy="448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kiwicha (</a:t>
            </a:r>
            <a:r>
              <a:rPr lang="es-PE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Amaranthus</a:t>
            </a:r>
            <a:r>
              <a:rPr lang="es-PE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caudatus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 un pseudocereal andino con un contenido importante de lípidos, principalmente insaturados. Durante la molienda y el almacenamiento, estos componentes pueden sufrir procesos de deterioro que afectan la calidad de la harina.</a:t>
            </a:r>
          </a:p>
          <a:p>
            <a:pPr algn="just">
              <a:lnSpc>
                <a:spcPct val="150000"/>
              </a:lnSpc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tipo de empaque puede influir en la protección de la harina frente a factores como el oxígeno, la luz y la humedad. Por ello, este estudio evaluará el efecto de tres variedades de kiwicha y tres tipos de empaque sobre la acidez titulable de la harina integral durante un almacenamiento acelerado de 7 días.</a:t>
            </a:r>
          </a:p>
        </p:txBody>
      </p:sp>
      <p:pic>
        <p:nvPicPr>
          <p:cNvPr id="22" name="Imagen 21" descr="Descubre el poder nutritivo de la #kiwicha! 🌱💪 Esta supersemilla andina  es una fuente esencial de nutrientes y ¡queremos que lo sepas! 🥣🌟 ✓Conoce  más sobre sus beneficios para la salud y">
            <a:extLst>
              <a:ext uri="{FF2B5EF4-FFF2-40B4-BE49-F238E27FC236}">
                <a16:creationId xmlns:a16="http://schemas.microsoft.com/office/drawing/2014/main" id="{05AD08BE-3DA2-8C9B-6549-EBE3E4B3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305" y="1143000"/>
            <a:ext cx="3126241" cy="31262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EF67-C918-2B24-D424-F97A7DF4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316B303-EBDD-D719-EB8C-D65CC95977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487114"/>
            <a:ext cx="1054014" cy="309384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A777B116-22BF-AE88-BF16-C2246181138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10934" y="6437453"/>
            <a:ext cx="2165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z="16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 descr="$PPTXTitle">
            <a:extLst>
              <a:ext uri="{FF2B5EF4-FFF2-40B4-BE49-F238E27FC236}">
                <a16:creationId xmlns:a16="http://schemas.microsoft.com/office/drawing/2014/main" id="{75A0C902-4C79-A2A3-A724-07A83AA71A68}"/>
              </a:ext>
            </a:extLst>
          </p:cNvPr>
          <p:cNvSpPr txBox="1">
            <a:spLocks/>
          </p:cNvSpPr>
          <p:nvPr/>
        </p:nvSpPr>
        <p:spPr>
          <a:xfrm>
            <a:off x="4584382" y="345700"/>
            <a:ext cx="3023235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II. Objetivos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5EAFE01-FF53-0C2C-7BC9-D2A2A3F9A454}"/>
              </a:ext>
            </a:extLst>
          </p:cNvPr>
          <p:cNvSpPr/>
          <p:nvPr/>
        </p:nvSpPr>
        <p:spPr>
          <a:xfrm>
            <a:off x="457200" y="1234440"/>
            <a:ext cx="11247120" cy="914400"/>
          </a:xfrm>
          <a:prstGeom prst="roundRect">
            <a:avLst>
              <a:gd name="adj" fmla="val 10000"/>
            </a:avLst>
          </a:prstGeom>
          <a:solidFill>
            <a:schemeClr val="accent5">
              <a:lumMod val="50000"/>
            </a:schemeClr>
          </a:solidFill>
          <a:ln w="12700">
            <a:solidFill>
              <a:srgbClr val="D9A44A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E9C483F-04DA-5AEE-4CDE-B60E45E75771}"/>
              </a:ext>
            </a:extLst>
          </p:cNvPr>
          <p:cNvSpPr txBox="1"/>
          <p:nvPr/>
        </p:nvSpPr>
        <p:spPr>
          <a:xfrm>
            <a:off x="685800" y="1234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Objetivo general: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Evaluar el efecto de la variedad y el tipo de empaque sobre la estabilidad oxidativa de la harina integral de tres variedades de kiwicha (</a:t>
            </a:r>
            <a:r>
              <a:rPr lang="es-PE" sz="16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Amaranthus</a:t>
            </a:r>
            <a:r>
              <a:rPr lang="es-PE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caudatus</a:t>
            </a:r>
            <a:r>
              <a:rPr lang="es-PE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durante un almacenamiento acelerado.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C9AE269-9EA0-21A5-7DF9-0BC24318D0C5}"/>
              </a:ext>
            </a:extLst>
          </p:cNvPr>
          <p:cNvSpPr/>
          <p:nvPr/>
        </p:nvSpPr>
        <p:spPr>
          <a:xfrm>
            <a:off x="45720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7A2E2E"/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EFB06D6-3D19-B69B-7F7B-900342505F39}"/>
              </a:ext>
            </a:extLst>
          </p:cNvPr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chemeClr val="bg2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P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FF50943-74C5-36DE-6A4B-FD6B5C42F20A}"/>
              </a:ext>
            </a:extLst>
          </p:cNvPr>
          <p:cNvSpPr txBox="1"/>
          <p:nvPr/>
        </p:nvSpPr>
        <p:spPr>
          <a:xfrm>
            <a:off x="731520" y="35204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Determinar la evolución de la acidez titulable de tres variedades de kiwicha durante los días 0, 3 y 7 de almacenamiento.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E864AF4-65E7-AF81-8B64-9CCA62EC44F3}"/>
              </a:ext>
            </a:extLst>
          </p:cNvPr>
          <p:cNvSpPr/>
          <p:nvPr/>
        </p:nvSpPr>
        <p:spPr>
          <a:xfrm>
            <a:off x="425196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9A44A"/>
            </a:solidFill>
            <a:prstDash val="solid"/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DFC9F7A-DB59-F1C8-00AD-AA19AC04F2FF}"/>
              </a:ext>
            </a:extLst>
          </p:cNvPr>
          <p:cNvSpPr/>
          <p:nvPr/>
        </p:nvSpPr>
        <p:spPr>
          <a:xfrm>
            <a:off x="4526280" y="2834640"/>
            <a:ext cx="502920" cy="5029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D9A44A"/>
            </a:solidFill>
            <a:prstDash val="solid"/>
          </a:ln>
        </p:spPr>
        <p:txBody>
          <a:bodyPr/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P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CC6D19D-796A-7603-7015-2C5744221FE6}"/>
              </a:ext>
            </a:extLst>
          </p:cNvPr>
          <p:cNvSpPr txBox="1"/>
          <p:nvPr/>
        </p:nvSpPr>
        <p:spPr>
          <a:xfrm>
            <a:off x="4526280" y="35204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 el efecto de tres tipos de empaque polietileno transparente, papel </a:t>
            </a:r>
            <a:r>
              <a:rPr lang="es-P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kraft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el aluminio sobre la acidez titulable de las harinas de las tres variedades.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297204B9-EAC0-C9E9-7B5B-E4D0397E6437}"/>
              </a:ext>
            </a:extLst>
          </p:cNvPr>
          <p:cNvSpPr/>
          <p:nvPr/>
        </p:nvSpPr>
        <p:spPr>
          <a:xfrm>
            <a:off x="804672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4C6444"/>
            </a:solidFill>
            <a:prstDash val="solid"/>
          </a:ln>
        </p:spPr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C2FAAB13-1CEC-4343-C5A8-B64FBE657FFD}"/>
              </a:ext>
            </a:extLst>
          </p:cNvPr>
          <p:cNvSpPr/>
          <p:nvPr/>
        </p:nvSpPr>
        <p:spPr>
          <a:xfrm>
            <a:off x="8321040" y="2834640"/>
            <a:ext cx="502920" cy="5029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4C6444"/>
            </a:solidFill>
            <a:prstDash val="solid"/>
          </a:ln>
        </p:spPr>
        <p:txBody>
          <a:bodyPr/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s-P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7D30606-255A-D964-7496-F3E562A9C368}"/>
              </a:ext>
            </a:extLst>
          </p:cNvPr>
          <p:cNvSpPr txBox="1"/>
          <p:nvPr/>
        </p:nvSpPr>
        <p:spPr>
          <a:xfrm>
            <a:off x="8321040" y="35204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Comparar la respuesta de las tres variedades de kiwicha frente a los diferentes tipos de empaque durante el almacenamiento acelerado.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8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87114"/>
            <a:ext cx="1054014" cy="30938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4DDA49C-BA1C-2720-32FE-03ED1DF67CC0}"/>
              </a:ext>
            </a:extLst>
          </p:cNvPr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Materia prima y molienda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4C51E70-14DD-9368-B68A-35E77AC6F5EA}"/>
              </a:ext>
            </a:extLst>
          </p:cNvPr>
          <p:cNvSpPr txBox="1"/>
          <p:nvPr/>
        </p:nvSpPr>
        <p:spPr>
          <a:xfrm>
            <a:off x="502920" y="1859280"/>
            <a:ext cx="5059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utilizarán tres variedades de kiwicha (</a:t>
            </a:r>
            <a:r>
              <a:rPr lang="es-PE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Amaranthus</a:t>
            </a:r>
            <a:r>
              <a:rPr lang="es-PE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caudatus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seleccionadas entre las variedades disponibles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sz="1600" dirty="0" err="1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Molienda</a:t>
            </a: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en molino de </a:t>
            </a:r>
            <a:r>
              <a:rPr lang="en-US" sz="1600" dirty="0" err="1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laboratorio</a:t>
            </a: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para obtener harina integral (grano completo, sin desgrasar).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Tamizado a malla ≤ 0.5 mm para homogeneizar el tamaño de partícula entre repeticiones.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9F5617C-4412-8B76-8C55-2130A35B0E8E}"/>
              </a:ext>
            </a:extLst>
          </p:cNvPr>
          <p:cNvSpPr txBox="1"/>
          <p:nvPr/>
        </p:nvSpPr>
        <p:spPr>
          <a:xfrm>
            <a:off x="6421902" y="7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Tratamientos de empaque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3902BF03-394C-D0AF-077D-F0462D187B14}"/>
              </a:ext>
            </a:extLst>
          </p:cNvPr>
          <p:cNvSpPr/>
          <p:nvPr/>
        </p:nvSpPr>
        <p:spPr>
          <a:xfrm>
            <a:off x="6324600" y="457200"/>
            <a:ext cx="5303520" cy="726948"/>
          </a:xfrm>
          <a:prstGeom prst="roundRect">
            <a:avLst>
              <a:gd name="adj" fmla="val 6667"/>
            </a:avLst>
          </a:prstGeom>
          <a:solidFill>
            <a:srgbClr val="FBF4E8"/>
          </a:solidFill>
          <a:ln w="15875">
            <a:solidFill>
              <a:srgbClr val="7A2E2E"/>
            </a:solidFill>
            <a:prstDash val="solid"/>
          </a:ln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9251643-5B17-8988-AB6C-C5D64EE2B3B6}"/>
              </a:ext>
            </a:extLst>
          </p:cNvPr>
          <p:cNvSpPr/>
          <p:nvPr/>
        </p:nvSpPr>
        <p:spPr>
          <a:xfrm>
            <a:off x="6553200" y="534924"/>
            <a:ext cx="548640" cy="5486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6539003-4D40-21A3-C2FE-348F9F462AF0}"/>
              </a:ext>
            </a:extLst>
          </p:cNvPr>
          <p:cNvSpPr txBox="1"/>
          <p:nvPr/>
        </p:nvSpPr>
        <p:spPr>
          <a:xfrm>
            <a:off x="7330440" y="4709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Polietileno transparente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FFBDFBE8-6B99-E950-FA6F-35C5D3DCCB3C}"/>
              </a:ext>
            </a:extLst>
          </p:cNvPr>
          <p:cNvSpPr txBox="1"/>
          <p:nvPr/>
        </p:nvSpPr>
        <p:spPr>
          <a:xfrm>
            <a:off x="7330440" y="816787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Permeable a luz y O₂ (barrera mínima)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9178BB8-8319-4373-E7CD-9D0A3C19F010}"/>
              </a:ext>
            </a:extLst>
          </p:cNvPr>
          <p:cNvSpPr/>
          <p:nvPr/>
        </p:nvSpPr>
        <p:spPr>
          <a:xfrm>
            <a:off x="6324600" y="1295400"/>
            <a:ext cx="5303520" cy="726948"/>
          </a:xfrm>
          <a:prstGeom prst="roundRect">
            <a:avLst>
              <a:gd name="adj" fmla="val 6667"/>
            </a:avLst>
          </a:prstGeom>
          <a:solidFill>
            <a:srgbClr val="FBF4E8"/>
          </a:solidFill>
          <a:ln w="15875">
            <a:solidFill>
              <a:srgbClr val="D9A44A"/>
            </a:solidFill>
            <a:prstDash val="solid"/>
          </a:ln>
        </p:spPr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C0477202-C05D-8F6C-C46D-B9D877D5F08D}"/>
              </a:ext>
            </a:extLst>
          </p:cNvPr>
          <p:cNvSpPr/>
          <p:nvPr/>
        </p:nvSpPr>
        <p:spPr>
          <a:xfrm>
            <a:off x="6553200" y="1359408"/>
            <a:ext cx="548640" cy="5486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9C7CA4D-8DAB-D219-778E-2024F005DED0}"/>
              </a:ext>
            </a:extLst>
          </p:cNvPr>
          <p:cNvSpPr txBox="1"/>
          <p:nvPr/>
        </p:nvSpPr>
        <p:spPr>
          <a:xfrm>
            <a:off x="7330440" y="1295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Papel kraft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7FCFBDAB-A3EF-814C-CA08-AB7E2E0A3094}"/>
              </a:ext>
            </a:extLst>
          </p:cNvPr>
          <p:cNvSpPr txBox="1"/>
          <p:nvPr/>
        </p:nvSpPr>
        <p:spPr>
          <a:xfrm>
            <a:off x="7330440" y="1640473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Opaco a la luz; permeable al O₂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FEDDE748-19C8-C32A-CAF8-8D1A8C96861E}"/>
              </a:ext>
            </a:extLst>
          </p:cNvPr>
          <p:cNvSpPr/>
          <p:nvPr/>
        </p:nvSpPr>
        <p:spPr>
          <a:xfrm>
            <a:off x="6324600" y="2092452"/>
            <a:ext cx="5303520" cy="726948"/>
          </a:xfrm>
          <a:prstGeom prst="roundRect">
            <a:avLst>
              <a:gd name="adj" fmla="val 6667"/>
            </a:avLst>
          </a:prstGeom>
          <a:solidFill>
            <a:srgbClr val="FBF4E8"/>
          </a:solidFill>
          <a:ln w="15875">
            <a:solidFill>
              <a:srgbClr val="4C6444"/>
            </a:solidFill>
            <a:prstDash val="solid"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92478ED4-03AB-8D24-E1DD-6E08AE06DDFE}"/>
              </a:ext>
            </a:extLst>
          </p:cNvPr>
          <p:cNvSpPr/>
          <p:nvPr/>
        </p:nvSpPr>
        <p:spPr>
          <a:xfrm>
            <a:off x="6553200" y="2147239"/>
            <a:ext cx="548640" cy="5486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B2D45761-8F87-5C6D-A521-5311F4762364}"/>
              </a:ext>
            </a:extLst>
          </p:cNvPr>
          <p:cNvSpPr txBox="1"/>
          <p:nvPr/>
        </p:nvSpPr>
        <p:spPr>
          <a:xfrm>
            <a:off x="7330440" y="2083231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Bilaminado / aluminio, sellado hermético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504EA27-CA05-479A-C4EE-9F56925A5823}"/>
              </a:ext>
            </a:extLst>
          </p:cNvPr>
          <p:cNvSpPr txBox="1"/>
          <p:nvPr/>
        </p:nvSpPr>
        <p:spPr>
          <a:xfrm>
            <a:off x="7330440" y="24251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Barrera total a luz y O₂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A977147-BF6D-A79F-FF73-5E75AA130CC3}"/>
              </a:ext>
            </a:extLst>
          </p:cNvPr>
          <p:cNvSpPr txBox="1"/>
          <p:nvPr/>
        </p:nvSpPr>
        <p:spPr>
          <a:xfrm>
            <a:off x="305972" y="762000"/>
            <a:ext cx="6098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3.1. </a:t>
            </a:r>
            <a:r>
              <a:rPr lang="en-US" sz="1600" b="1" i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Materiales</a:t>
            </a: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endParaRPr lang="es-PE" sz="1050" b="1" i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82D91BD8-BBDB-F7BE-EA61-AD4AE51F97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2" t="10891" r="2095" b="18131"/>
          <a:stretch>
            <a:fillRect/>
          </a:stretch>
        </p:blipFill>
        <p:spPr>
          <a:xfrm>
            <a:off x="380356" y="3947160"/>
            <a:ext cx="5781689" cy="146304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D15D6126-1B7E-BEC7-08DA-1119BC317752}"/>
              </a:ext>
            </a:extLst>
          </p:cNvPr>
          <p:cNvSpPr txBox="1"/>
          <p:nvPr/>
        </p:nvSpPr>
        <p:spPr>
          <a:xfrm>
            <a:off x="6306345" y="28618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Sitio de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estudio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CA2864F-2C89-AF37-B798-04D6967A072C}"/>
              </a:ext>
            </a:extLst>
          </p:cNvPr>
          <p:cNvSpPr txBox="1"/>
          <p:nvPr/>
        </p:nvSpPr>
        <p:spPr>
          <a:xfrm>
            <a:off x="380356" y="5562600"/>
            <a:ext cx="55632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Variedades de semillas de kiwicha evaluadas: Óscar Blanco, Centenario, Moco de Pavo, Nativa y Negra.</a:t>
            </a: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823200F8-7075-37C7-63A7-AD46D4EF4D61}"/>
              </a:ext>
            </a:extLst>
          </p:cNvPr>
          <p:cNvSpPr txBox="1"/>
          <p:nvPr/>
        </p:nvSpPr>
        <p:spPr>
          <a:xfrm>
            <a:off x="6568440" y="1359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4E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C8C43B-969E-52DC-9F2D-EF73B1999C03}"/>
              </a:ext>
            </a:extLst>
          </p:cNvPr>
          <p:cNvSpPr txBox="1"/>
          <p:nvPr/>
        </p:nvSpPr>
        <p:spPr>
          <a:xfrm>
            <a:off x="6568440" y="216181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4E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A8B82C40-35A5-11F8-B30A-3769C2809CCE}"/>
              </a:ext>
            </a:extLst>
          </p:cNvPr>
          <p:cNvSpPr txBox="1"/>
          <p:nvPr/>
        </p:nvSpPr>
        <p:spPr>
          <a:xfrm>
            <a:off x="6568440" y="54770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4E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A5D7492-1683-1E00-3477-CD4F71E11EA1}"/>
              </a:ext>
            </a:extLst>
          </p:cNvPr>
          <p:cNvSpPr txBox="1"/>
          <p:nvPr/>
        </p:nvSpPr>
        <p:spPr>
          <a:xfrm>
            <a:off x="6404316" y="5897966"/>
            <a:ext cx="53211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Ubicación del Laboratorio de Biología Molecular de Plantas (LBMP) en la Universidad Nacional Toribio Rodríguez de Mendoza.</a:t>
            </a:r>
          </a:p>
        </p:txBody>
      </p:sp>
      <p:pic>
        <p:nvPicPr>
          <p:cNvPr id="55" name="Imagen 54" descr="BOLSA PLASTICA POLIETILENO TRANSPARENTE 30CMT X 40CMT X 8MIC">
            <a:extLst>
              <a:ext uri="{FF2B5EF4-FFF2-40B4-BE49-F238E27FC236}">
                <a16:creationId xmlns:a16="http://schemas.microsoft.com/office/drawing/2014/main" id="{511BB84F-F9DF-4E4A-3820-B2B823B206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73" b="10577"/>
          <a:stretch>
            <a:fillRect/>
          </a:stretch>
        </p:blipFill>
        <p:spPr>
          <a:xfrm>
            <a:off x="10878122" y="553941"/>
            <a:ext cx="525399" cy="536176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8CDA6B3E-0066-9B78-5F4C-A5079E2F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9011" y="1339483"/>
            <a:ext cx="524510" cy="601980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2BE5FFDD-0183-E576-3291-78282BD3E0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600" r="22779" b="17369"/>
          <a:stretch>
            <a:fillRect/>
          </a:stretch>
        </p:blipFill>
        <p:spPr>
          <a:xfrm>
            <a:off x="10946502" y="2161183"/>
            <a:ext cx="609600" cy="559005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AFD89EF9-74C3-F24A-2568-6651785245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179" y="3200400"/>
            <a:ext cx="4338965" cy="2670132"/>
          </a:xfrm>
          <a:prstGeom prst="rect">
            <a:avLst/>
          </a:prstGeom>
        </p:spPr>
      </p:pic>
      <p:sp>
        <p:nvSpPr>
          <p:cNvPr id="60" name="object 3" descr="$PPTXTitle">
            <a:extLst>
              <a:ext uri="{FF2B5EF4-FFF2-40B4-BE49-F238E27FC236}">
                <a16:creationId xmlns:a16="http://schemas.microsoft.com/office/drawing/2014/main" id="{CBAB4810-A42F-10CD-633E-C0F30D670B5A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III. Materiales y Métodos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E430-C793-7ECD-CDD5-7F4074DD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C1821CB-432A-D657-7D17-0D6E5FDD3E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82FC0A4-52F9-CB49-0CB2-A6AB2A54F2FB}"/>
              </a:ext>
            </a:extLst>
          </p:cNvPr>
          <p:cNvSpPr txBox="1"/>
          <p:nvPr/>
        </p:nvSpPr>
        <p:spPr>
          <a:xfrm>
            <a:off x="304800" y="1015612"/>
            <a:ext cx="10942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las 3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variedades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seleccionadas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somete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tratamientos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empaque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(T1, T2, T3),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generando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unidades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experimentales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combinación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evalúa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sus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repeticiones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correspondientes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sz="1600" dirty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días 0, 3 y 7.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EE029F54-2A2C-784B-5485-01E012DCE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8287"/>
              </p:ext>
            </p:extLst>
          </p:nvPr>
        </p:nvGraphicFramePr>
        <p:xfrm>
          <a:off x="457201" y="1850000"/>
          <a:ext cx="6096001" cy="370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80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1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000">
                <a:tc>
                  <a:txBody>
                    <a:bodyPr/>
                    <a:lstStyle/>
                    <a:p>
                      <a:pPr algn="l"/>
                      <a:r>
                        <a:rPr lang="es-MX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</a:t>
                      </a:r>
                    </a:p>
                    <a:p>
                      <a:pPr algn="l"/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Variedad</a:t>
                      </a:r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\ </a:t>
                      </a:r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Empaque</a:t>
                      </a:r>
                      <a:endParaRPr sz="16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 – </a:t>
                      </a:r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Polietileno</a:t>
                      </a:r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transparente</a:t>
                      </a:r>
                      <a:endParaRPr sz="16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 – Papel kraft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 – </a:t>
                      </a:r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Bilaminado</a:t>
                      </a:r>
                      <a:r>
                        <a:rPr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hermético</a:t>
                      </a:r>
                      <a:endParaRPr sz="16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Variedad</a:t>
                      </a:r>
                      <a:r>
                        <a:rPr sz="1600" b="1" dirty="0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</a:p>
                    <a:p>
                      <a:endParaRPr sz="1600" dirty="0">
                        <a:solidFill>
                          <a:srgbClr val="6B625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A–T1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A–T2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A–T3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Variedad</a:t>
                      </a:r>
                      <a:r>
                        <a:rPr sz="1600" b="1" dirty="0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</a:t>
                      </a:r>
                    </a:p>
                    <a:p>
                      <a:endParaRPr sz="1600" dirty="0">
                        <a:solidFill>
                          <a:srgbClr val="6B625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B–T1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B–T2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B–T3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Variedad</a:t>
                      </a:r>
                      <a:r>
                        <a:rPr sz="1600" b="1" dirty="0">
                          <a:solidFill>
                            <a:srgbClr val="2B211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C–T1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C–T2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88A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C–T3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1DE296ED-20E4-2C46-93A8-1CEE1AE78E5D}"/>
              </a:ext>
            </a:extLst>
          </p:cNvPr>
          <p:cNvSpPr txBox="1"/>
          <p:nvPr/>
        </p:nvSpPr>
        <p:spPr>
          <a:xfrm>
            <a:off x="304800" y="643642"/>
            <a:ext cx="10031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3.2. </a:t>
            </a:r>
            <a:r>
              <a:rPr lang="en-US" sz="1600" b="1" i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Metodología</a:t>
            </a: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: </a:t>
            </a:r>
            <a:r>
              <a:rPr lang="en-US" sz="1600" b="1" i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diseño</a:t>
            </a: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experimental (5–7 días)</a:t>
            </a:r>
            <a:endParaRPr lang="en-US" sz="1600" i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BCE94F2-FE1B-F576-3AB7-0FDD21F38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88100"/>
            <a:ext cx="4362860" cy="3522100"/>
          </a:xfrm>
          <a:prstGeom prst="rect">
            <a:avLst/>
          </a:prstGeom>
        </p:spPr>
      </p:pic>
      <p:sp>
        <p:nvSpPr>
          <p:cNvPr id="13" name="object 3" descr="$PPTXTitle">
            <a:extLst>
              <a:ext uri="{FF2B5EF4-FFF2-40B4-BE49-F238E27FC236}">
                <a16:creationId xmlns:a16="http://schemas.microsoft.com/office/drawing/2014/main" id="{46F4F86B-C91A-AB1D-B038-9E85ACFA5BD6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III. Materiales y Métodos </a:t>
            </a:r>
          </a:p>
        </p:txBody>
      </p:sp>
    </p:spTree>
    <p:extLst>
      <p:ext uri="{BB962C8B-B14F-4D97-AF65-F5344CB8AC3E}">
        <p14:creationId xmlns:p14="http://schemas.microsoft.com/office/powerpoint/2010/main" val="97544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189A-4B72-1043-0AE7-349F486D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FC8DCFF-EE64-9004-E5DF-51CF77FB4D8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15331" y="6477000"/>
            <a:ext cx="2165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16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 descr="$PPTXTitle">
            <a:extLst>
              <a:ext uri="{FF2B5EF4-FFF2-40B4-BE49-F238E27FC236}">
                <a16:creationId xmlns:a16="http://schemas.microsoft.com/office/drawing/2014/main" id="{06F74F00-4D3D-4539-D7AB-51DFB48403F0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III. Materiales y Métodos 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9EC780-F3D0-EBAF-A861-B9777CFA6275}"/>
              </a:ext>
            </a:extLst>
          </p:cNvPr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3A2650-C11B-0D6F-E87A-5B11954A05F2}"/>
              </a:ext>
            </a:extLst>
          </p:cNvPr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F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C424B19-292A-2A78-84AC-DEA9DFA508C8}"/>
              </a:ext>
            </a:extLst>
          </p:cNvPr>
          <p:cNvSpPr/>
          <p:nvPr/>
        </p:nvSpPr>
        <p:spPr>
          <a:xfrm>
            <a:off x="1143000" y="1172323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FBF4E8"/>
          </a:solidFill>
          <a:ln w="9525">
            <a:solidFill>
              <a:srgbClr val="D9A44A"/>
            </a:solidFill>
            <a:prstDash val="solid"/>
          </a:ln>
        </p:spPr>
        <p:txBody>
          <a:bodyPr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03B4383-1BF7-42E1-EA10-4D39E68E5FE6}"/>
              </a:ext>
            </a:extLst>
          </p:cNvPr>
          <p:cNvSpPr txBox="1"/>
          <p:nvPr/>
        </p:nvSpPr>
        <p:spPr>
          <a:xfrm>
            <a:off x="1371600" y="1172323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4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Día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6E96207-F95E-E808-50C7-8EC33209604A}"/>
              </a:ext>
            </a:extLst>
          </p:cNvPr>
          <p:cNvSpPr txBox="1"/>
          <p:nvPr/>
        </p:nvSpPr>
        <p:spPr>
          <a:xfrm>
            <a:off x="3017520" y="1172323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Molienda independiente de las 3 variedades; cada harina fresca se divide en 3 lotes y se empaca de inmediato en T1, T2 y T3 (9 unidades experimentales); toma de muestra basal.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C4FEE92-C9D5-2811-A7A6-6294231DAA3A}"/>
              </a:ext>
            </a:extLst>
          </p:cNvPr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1F1368E-CE0C-65D6-5E70-9814339DC752}"/>
              </a:ext>
            </a:extLst>
          </p:cNvPr>
          <p:cNvSpPr txBox="1"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F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6122615-0569-4CC3-CF40-A0700FC5C78D}"/>
              </a:ext>
            </a:extLst>
          </p:cNvPr>
          <p:cNvSpPr/>
          <p:nvPr/>
        </p:nvSpPr>
        <p:spPr>
          <a:xfrm>
            <a:off x="1143000" y="2196451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A44A"/>
            </a:solidFill>
            <a:prstDash val="solid"/>
          </a:ln>
        </p:spPr>
        <p:txBody>
          <a:bodyPr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C0977CD-DC31-03D8-8702-26F82CDCA3FB}"/>
              </a:ext>
            </a:extLst>
          </p:cNvPr>
          <p:cNvSpPr txBox="1"/>
          <p:nvPr/>
        </p:nvSpPr>
        <p:spPr>
          <a:xfrm>
            <a:off x="1371600" y="2196451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4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Días 0–7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B359FBF-F2EC-92B1-5B6C-A89A73AFBF39}"/>
              </a:ext>
            </a:extLst>
          </p:cNvPr>
          <p:cNvSpPr txBox="1"/>
          <p:nvPr/>
        </p:nvSpPr>
        <p:spPr>
          <a:xfrm>
            <a:off x="3017520" y="2196451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Almacenamiento acelerado en ambiente cálido e iluminado; registro periódico de temperatura y humedad relativa del entorno.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3D2E9ACA-D552-8260-C925-82F1BED40937}"/>
              </a:ext>
            </a:extLst>
          </p:cNvPr>
          <p:cNvSpPr/>
          <p:nvPr/>
        </p:nvSpPr>
        <p:spPr>
          <a:xfrm>
            <a:off x="457200" y="3419856"/>
            <a:ext cx="502920" cy="50292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F3275CF-17E7-0C3A-3F68-8EEFBE015F0D}"/>
              </a:ext>
            </a:extLst>
          </p:cNvPr>
          <p:cNvSpPr txBox="1"/>
          <p:nvPr/>
        </p:nvSpPr>
        <p:spPr>
          <a:xfrm>
            <a:off x="45720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F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78F5C67B-30CD-49F5-655F-535564447BC9}"/>
              </a:ext>
            </a:extLst>
          </p:cNvPr>
          <p:cNvSpPr/>
          <p:nvPr/>
        </p:nvSpPr>
        <p:spPr>
          <a:xfrm>
            <a:off x="1143000" y="3220579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FBF4E8"/>
          </a:solidFill>
          <a:ln w="9525">
            <a:solidFill>
              <a:srgbClr val="D9A44A"/>
            </a:solidFill>
            <a:prstDash val="solid"/>
          </a:ln>
        </p:spPr>
        <p:txBody>
          <a:bodyPr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9188690-8CCE-2DC1-80DB-C9872C780792}"/>
              </a:ext>
            </a:extLst>
          </p:cNvPr>
          <p:cNvSpPr txBox="1"/>
          <p:nvPr/>
        </p:nvSpPr>
        <p:spPr>
          <a:xfrm>
            <a:off x="1371600" y="3220579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4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Días 0, 3, 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5DB9FA4-2B34-E78D-890C-D9E2C692C2AA}"/>
              </a:ext>
            </a:extLst>
          </p:cNvPr>
          <p:cNvSpPr txBox="1"/>
          <p:nvPr/>
        </p:nvSpPr>
        <p:spPr>
          <a:xfrm>
            <a:off x="3017520" y="3220579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Extracción de la grasa con alcohol neutro y titulación con NaOH/fenolftaleína para determinar la acidez titulable libre (índice de acidez) en cada una de las 9 combinaciones.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740E1D8-9BDE-ACD8-8191-42837E45DA34}"/>
              </a:ext>
            </a:extLst>
          </p:cNvPr>
          <p:cNvSpPr/>
          <p:nvPr/>
        </p:nvSpPr>
        <p:spPr>
          <a:xfrm>
            <a:off x="457200" y="4443984"/>
            <a:ext cx="502920" cy="50292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CEBBB7B-4D87-B382-2AC7-E02200147ECC}"/>
              </a:ext>
            </a:extLst>
          </p:cNvPr>
          <p:cNvSpPr txBox="1"/>
          <p:nvPr/>
        </p:nvSpPr>
        <p:spPr>
          <a:xfrm>
            <a:off x="457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F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06CCB51C-2CA1-27CF-BCB1-39C63E8C9786}"/>
              </a:ext>
            </a:extLst>
          </p:cNvPr>
          <p:cNvSpPr/>
          <p:nvPr/>
        </p:nvSpPr>
        <p:spPr>
          <a:xfrm>
            <a:off x="1143000" y="4244707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A44A"/>
            </a:solidFill>
            <a:prstDash val="solid"/>
          </a:ln>
        </p:spPr>
        <p:txBody>
          <a:bodyPr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1FD7485-7AB4-83AB-B9C0-481F2D35CC1C}"/>
              </a:ext>
            </a:extLst>
          </p:cNvPr>
          <p:cNvSpPr txBox="1"/>
          <p:nvPr/>
        </p:nvSpPr>
        <p:spPr>
          <a:xfrm>
            <a:off x="1371600" y="4244707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4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Día 5–7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A2A586B6-50F4-848C-25BB-D846247D2612}"/>
              </a:ext>
            </a:extLst>
          </p:cNvPr>
          <p:cNvSpPr txBox="1"/>
          <p:nvPr/>
        </p:nvSpPr>
        <p:spPr>
          <a:xfrm>
            <a:off x="3017520" y="4244707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Evaluación sensorial: panel de jueces aplica una prueba de ordenamiento del olor a rancio en escala hedónica, comparando las 9 combinaciones variedad × empaque.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DA533D2-04BD-AB11-3B7E-6C397891CDAE}"/>
              </a:ext>
            </a:extLst>
          </p:cNvPr>
          <p:cNvSpPr/>
          <p:nvPr/>
        </p:nvSpPr>
        <p:spPr>
          <a:xfrm>
            <a:off x="457200" y="5468112"/>
            <a:ext cx="502920" cy="50292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4E2036DE-34F2-AC82-AB78-ADBBB722B23D}"/>
              </a:ext>
            </a:extLst>
          </p:cNvPr>
          <p:cNvSpPr txBox="1"/>
          <p:nvPr/>
        </p:nvSpPr>
        <p:spPr>
          <a:xfrm>
            <a:off x="45720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F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9A75C03C-0522-C71A-1BE2-DD34D9003401}"/>
              </a:ext>
            </a:extLst>
          </p:cNvPr>
          <p:cNvSpPr/>
          <p:nvPr/>
        </p:nvSpPr>
        <p:spPr>
          <a:xfrm>
            <a:off x="1143000" y="5268835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FBF4E8"/>
          </a:solidFill>
          <a:ln w="9525">
            <a:solidFill>
              <a:srgbClr val="D9A44A"/>
            </a:solidFill>
            <a:prstDash val="solid"/>
          </a:ln>
        </p:spPr>
        <p:txBody>
          <a:bodyPr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6B464D2-FA9E-FF69-FE24-7E347F3F1342}"/>
              </a:ext>
            </a:extLst>
          </p:cNvPr>
          <p:cNvSpPr txBox="1"/>
          <p:nvPr/>
        </p:nvSpPr>
        <p:spPr>
          <a:xfrm>
            <a:off x="1371600" y="5268835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444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Análisis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EEDF67A-AD09-EB1F-A1C3-6F04E9187DDC}"/>
              </a:ext>
            </a:extLst>
          </p:cNvPr>
          <p:cNvSpPr txBox="1"/>
          <p:nvPr/>
        </p:nvSpPr>
        <p:spPr>
          <a:xfrm>
            <a:off x="3017520" y="5268835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Comparación estadística mediante ANOVA factorial (variedad × </a:t>
            </a:r>
            <a:r>
              <a:rPr lang="en-US" sz="1600" dirty="0" err="1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empaque</a:t>
            </a:r>
            <a:r>
              <a:rPr lang="en-US" sz="1600" dirty="0">
                <a:solidFill>
                  <a:srgbClr val="2B211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501FA72-B5A8-798A-BDC5-98E497E1C0C8}"/>
              </a:ext>
            </a:extLst>
          </p:cNvPr>
          <p:cNvSpPr txBox="1"/>
          <p:nvPr/>
        </p:nvSpPr>
        <p:spPr>
          <a:xfrm>
            <a:off x="304800" y="643642"/>
            <a:ext cx="10031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3.2. </a:t>
            </a:r>
            <a:r>
              <a:rPr lang="en-US" sz="1600" b="1" i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Metodología</a:t>
            </a: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: </a:t>
            </a:r>
            <a:r>
              <a:rPr lang="en-US" sz="1600" b="1" i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diseño</a:t>
            </a:r>
            <a:r>
              <a:rPr lang="en-US" sz="16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experimental (5–7 días)</a:t>
            </a:r>
            <a:endParaRPr lang="en-US" sz="1600" i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053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48174"/>
            <a:ext cx="1054023" cy="24832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8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9" name="object 3" descr="$PPTXTitle">
            <a:extLst>
              <a:ext uri="{FF2B5EF4-FFF2-40B4-BE49-F238E27FC236}">
                <a16:creationId xmlns:a16="http://schemas.microsoft.com/office/drawing/2014/main" id="{768D4352-F78B-D373-CE16-46FAA828EED4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IV. Resultados y Discusiones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87114"/>
            <a:ext cx="1054014" cy="30938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9" name="object 3" descr="$PPTXTitle">
            <a:extLst>
              <a:ext uri="{FF2B5EF4-FFF2-40B4-BE49-F238E27FC236}">
                <a16:creationId xmlns:a16="http://schemas.microsoft.com/office/drawing/2014/main" id="{5076E4E8-D3C3-2703-2264-F98E3DAB23F2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V. Conclusiones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87114"/>
            <a:ext cx="1054014" cy="3093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8" name="object 3" descr="$PPTXTitle">
            <a:extLst>
              <a:ext uri="{FF2B5EF4-FFF2-40B4-BE49-F238E27FC236}">
                <a16:creationId xmlns:a16="http://schemas.microsoft.com/office/drawing/2014/main" id="{846AB857-370D-4459-F982-D310981958B6}"/>
              </a:ext>
            </a:extLst>
          </p:cNvPr>
          <p:cNvSpPr txBox="1">
            <a:spLocks/>
          </p:cNvSpPr>
          <p:nvPr/>
        </p:nvSpPr>
        <p:spPr>
          <a:xfrm>
            <a:off x="304800" y="228600"/>
            <a:ext cx="4800600" cy="382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rgbClr val="073762"/>
                </a:solidFill>
                <a:latin typeface="Times New Roman"/>
                <a:ea typeface="+mn-ea"/>
                <a:cs typeface="Times New Roman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s-MX" sz="2400" spc="-10" dirty="0"/>
              <a:t>VI. Referencias bibliográficas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6FF061-0607-18EC-E3EF-B6B586726D05}"/>
              </a:ext>
            </a:extLst>
          </p:cNvPr>
          <p:cNvSpPr txBox="1"/>
          <p:nvPr/>
        </p:nvSpPr>
        <p:spPr>
          <a:xfrm>
            <a:off x="527007" y="1066800"/>
            <a:ext cx="110542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Awol, S. M.,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Kuyu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G., Bereka, T. Y., &amp;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Abamecha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 (2024).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Physicochemical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microbial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refined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wheat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flour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102217. 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https://doi.org/10.1016/j.jspr.2023.102217</a:t>
            </a:r>
            <a:endParaRPr lang="es-P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s-P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Galliard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 (1986).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Hydrolytic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oxidative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degradation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lipids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wholemeal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flour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bran and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germ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Cereal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179-192. </a:t>
            </a:r>
            <a:r>
              <a:rPr lang="es-PE" dirty="0">
                <a:solidFill>
                  <a:srgbClr val="0462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S0733-5210(86)80020-0</a:t>
            </a:r>
            <a:endParaRPr lang="es-P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s-P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Hemery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Y. M.,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Laillou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Fontan, L.,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Jallier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V., Moench-Pfanner, R., Berger, J., &amp; Avallone, S. (2018). Storage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greatly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affects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fortified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wheat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flour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vitamin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zinc, and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oxidation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Chemistry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43-50. 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https://doi.org/10.1016/j.foodchem.2017.07.084</a:t>
            </a:r>
            <a:endParaRPr lang="es-P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P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Malik, M., Sindhu, R.,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Dhull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B., Bou-Mitri, C., Singh, Y., Panwar, S., &amp;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Khatkar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B. S. (2023).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Nutritional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Processing Technologies </a:t>
            </a:r>
            <a:r>
              <a:rPr lang="es-P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Amaranth.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and </a:t>
            </a:r>
            <a:r>
              <a:rPr lang="es-PE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Preservation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1-24. </a:t>
            </a:r>
            <a:r>
              <a:rPr lang="es-P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https://doi.org/10.1155/2023/1753029</a:t>
            </a:r>
            <a:endParaRPr lang="es-P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P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s-P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8058" y="843813"/>
            <a:ext cx="3184779" cy="934821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86680" y="3032505"/>
            <a:ext cx="28676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30" dirty="0">
                <a:solidFill>
                  <a:srgbClr val="FFFFFF"/>
                </a:solidFill>
                <a:latin typeface="Arial"/>
                <a:cs typeface="Arial"/>
              </a:rPr>
              <a:t>¡Gracias!</a:t>
            </a:r>
            <a:endParaRPr sz="6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10934" y="6437453"/>
            <a:ext cx="875666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961</Words>
  <Application>Microsoft Office PowerPoint</Application>
  <PresentationFormat>Panorámica</PresentationFormat>
  <Paragraphs>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Cambria</vt:lpstr>
      <vt:lpstr>Times New Roman</vt:lpstr>
      <vt:lpstr>Office Theme</vt:lpstr>
      <vt:lpstr>Efecto de la variedad y el tipo de empaque sobre la acidez titulable de la harina integral de tres variedades de kiwicha (Amaranthus caudatus) durante un almacenamiento acelerado</vt:lpstr>
      <vt:lpstr>I. 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Asus</cp:lastModifiedBy>
  <cp:revision>5</cp:revision>
  <dcterms:created xsi:type="dcterms:W3CDTF">2026-09-22T19:05:26Z</dcterms:created>
  <dcterms:modified xsi:type="dcterms:W3CDTF">2026-09-22T22:19:16Z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2024-09-01T00:00:00Z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para Microsoft 365</vt:lpwstr>
  </property>
</Properties>
</file>